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ill Sans Bold" charset="1" panose="020B0802020104020203"/>
      <p:regular r:id="rId14"/>
    </p:embeddedFont>
    <p:embeddedFont>
      <p:font typeface="Agrandir Narrow Bold Italics" charset="1" panose="00000806000000000000"/>
      <p:regular r:id="rId15"/>
    </p:embeddedFont>
    <p:embeddedFont>
      <p:font typeface="Agrandir Narrow Bold" charset="1" panose="00000806000000000000"/>
      <p:regular r:id="rId16"/>
    </p:embeddedFont>
    <p:embeddedFont>
      <p:font typeface="Agrandir Narrow" charset="1" panose="00000506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.jpe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.jpe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researchgate.net/publication/357699684_Life_skills_through_Event_Management_in_Undergraduate_Education" TargetMode="External" Type="http://schemas.openxmlformats.org/officeDocument/2006/relationships/hyperlink"/><Relationship Id="rId11" Target="https://www.researchgate.net/publication/336532594_The_Influences_of_Student_Club_Events_on_Students_Studying_in_Linnala_Campus" TargetMode="External" Type="http://schemas.openxmlformats.org/officeDocument/2006/relationships/hyperlink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https://www.poddarbschool.com/club-event-calendar#Spandan%20club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r="0" b="-351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4174148">
            <a:off x="-1273162" y="6074651"/>
            <a:ext cx="4603724" cy="3766684"/>
          </a:xfrm>
          <a:custGeom>
            <a:avLst/>
            <a:gdLst/>
            <a:ahLst/>
            <a:cxnLst/>
            <a:rect r="r" b="b" t="t" l="l"/>
            <a:pathLst>
              <a:path h="3766684" w="4603724">
                <a:moveTo>
                  <a:pt x="4603724" y="0"/>
                </a:moveTo>
                <a:lnTo>
                  <a:pt x="0" y="0"/>
                </a:lnTo>
                <a:lnTo>
                  <a:pt x="0" y="3766683"/>
                </a:lnTo>
                <a:lnTo>
                  <a:pt x="4603724" y="3766683"/>
                </a:lnTo>
                <a:lnTo>
                  <a:pt x="460372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56902" y="7518902"/>
            <a:ext cx="15675137" cy="4391996"/>
          </a:xfrm>
          <a:custGeom>
            <a:avLst/>
            <a:gdLst/>
            <a:ahLst/>
            <a:cxnLst/>
            <a:rect r="r" b="b" t="t" l="l"/>
            <a:pathLst>
              <a:path h="4391996" w="15675137">
                <a:moveTo>
                  <a:pt x="0" y="0"/>
                </a:moveTo>
                <a:lnTo>
                  <a:pt x="15675137" y="0"/>
                </a:lnTo>
                <a:lnTo>
                  <a:pt x="15675137" y="4391996"/>
                </a:lnTo>
                <a:lnTo>
                  <a:pt x="0" y="43919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05285">
            <a:off x="15230774" y="118102"/>
            <a:ext cx="6621020" cy="5417199"/>
          </a:xfrm>
          <a:custGeom>
            <a:avLst/>
            <a:gdLst/>
            <a:ahLst/>
            <a:cxnLst/>
            <a:rect r="r" b="b" t="t" l="l"/>
            <a:pathLst>
              <a:path h="5417199" w="6621020">
                <a:moveTo>
                  <a:pt x="0" y="0"/>
                </a:moveTo>
                <a:lnTo>
                  <a:pt x="6621021" y="0"/>
                </a:lnTo>
                <a:lnTo>
                  <a:pt x="6621021" y="5417199"/>
                </a:lnTo>
                <a:lnTo>
                  <a:pt x="0" y="5417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984155" y="-200830"/>
            <a:ext cx="14678635" cy="4112787"/>
          </a:xfrm>
          <a:custGeom>
            <a:avLst/>
            <a:gdLst/>
            <a:ahLst/>
            <a:cxnLst/>
            <a:rect r="r" b="b" t="t" l="l"/>
            <a:pathLst>
              <a:path h="4112787" w="14678635">
                <a:moveTo>
                  <a:pt x="14678635" y="4112787"/>
                </a:moveTo>
                <a:lnTo>
                  <a:pt x="0" y="4112787"/>
                </a:lnTo>
                <a:lnTo>
                  <a:pt x="0" y="0"/>
                </a:lnTo>
                <a:lnTo>
                  <a:pt x="14678635" y="0"/>
                </a:lnTo>
                <a:lnTo>
                  <a:pt x="14678635" y="411278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74447" y="2951521"/>
            <a:ext cx="13466599" cy="3815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4"/>
              </a:lnSpc>
            </a:pPr>
            <a:r>
              <a:rPr lang="en-US" sz="9321" b="true">
                <a:solidFill>
                  <a:srgbClr val="383C5B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EVENT MANAGEMENT FOR COLLEGE CLUB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24069" y="6995027"/>
            <a:ext cx="4639861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8"/>
              </a:lnSpc>
            </a:pPr>
            <a:r>
              <a:rPr lang="en-US" b="true" sz="2974" i="true">
                <a:solidFill>
                  <a:srgbClr val="383C5B"/>
                </a:solidFill>
                <a:latin typeface="Agrandir Narrow Bold Italics"/>
                <a:ea typeface="Agrandir Narrow Bold Italics"/>
                <a:cs typeface="Agrandir Narrow Bold Italics"/>
                <a:sym typeface="Agrandir Narrow Bold Italics"/>
              </a:rPr>
              <a:t>BY-</a:t>
            </a:r>
          </a:p>
          <a:p>
            <a:pPr algn="ctr">
              <a:lnSpc>
                <a:spcPts val="3568"/>
              </a:lnSpc>
            </a:pPr>
            <a:r>
              <a:rPr lang="en-US" b="true" sz="2974" i="true">
                <a:solidFill>
                  <a:srgbClr val="383C5B"/>
                </a:solidFill>
                <a:latin typeface="Agrandir Narrow Bold Italics"/>
                <a:ea typeface="Agrandir Narrow Bold Italics"/>
                <a:cs typeface="Agrandir Narrow Bold Italics"/>
                <a:sym typeface="Agrandir Narrow Bold Italics"/>
              </a:rPr>
              <a:t>Karishma Mujavar C-26</a:t>
            </a:r>
          </a:p>
          <a:p>
            <a:pPr algn="ctr">
              <a:lnSpc>
                <a:spcPts val="3568"/>
              </a:lnSpc>
            </a:pPr>
            <a:r>
              <a:rPr lang="en-US" b="true" sz="2974" i="true">
                <a:solidFill>
                  <a:srgbClr val="383C5B"/>
                </a:solidFill>
                <a:latin typeface="Agrandir Narrow Bold Italics"/>
                <a:ea typeface="Agrandir Narrow Bold Italics"/>
                <a:cs typeface="Agrandir Narrow Bold Italics"/>
                <a:sym typeface="Agrandir Narrow Bold Italics"/>
              </a:rPr>
              <a:t>Samrudhi Bongale C-05</a:t>
            </a:r>
          </a:p>
        </p:txBody>
      </p:sp>
      <p:sp>
        <p:nvSpPr>
          <p:cNvPr name="Freeform 9" id="9"/>
          <p:cNvSpPr/>
          <p:nvPr/>
        </p:nvSpPr>
        <p:spPr>
          <a:xfrm flipH="true" flipV="true" rot="0">
            <a:off x="11201967" y="-1027694"/>
            <a:ext cx="14678635" cy="4112787"/>
          </a:xfrm>
          <a:custGeom>
            <a:avLst/>
            <a:gdLst/>
            <a:ahLst/>
            <a:cxnLst/>
            <a:rect r="r" b="b" t="t" l="l"/>
            <a:pathLst>
              <a:path h="4112787" w="14678635">
                <a:moveTo>
                  <a:pt x="14678635" y="4112788"/>
                </a:moveTo>
                <a:lnTo>
                  <a:pt x="0" y="4112788"/>
                </a:lnTo>
                <a:lnTo>
                  <a:pt x="0" y="0"/>
                </a:lnTo>
                <a:lnTo>
                  <a:pt x="14678635" y="0"/>
                </a:lnTo>
                <a:lnTo>
                  <a:pt x="14678635" y="411278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793878" y="1983743"/>
            <a:ext cx="719027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8"/>
              </a:lnSpc>
            </a:pPr>
            <a:r>
              <a:rPr lang="en-US" sz="2974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KIT’s College Of Engineering, Kolhapur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139743" y="498507"/>
            <a:ext cx="1599278" cy="1357057"/>
          </a:xfrm>
          <a:custGeom>
            <a:avLst/>
            <a:gdLst/>
            <a:ahLst/>
            <a:cxnLst/>
            <a:rect r="r" b="b" t="t" l="l"/>
            <a:pathLst>
              <a:path h="1357057" w="1599278">
                <a:moveTo>
                  <a:pt x="0" y="0"/>
                </a:moveTo>
                <a:lnTo>
                  <a:pt x="1599278" y="0"/>
                </a:lnTo>
                <a:lnTo>
                  <a:pt x="1599278" y="1357057"/>
                </a:lnTo>
                <a:lnTo>
                  <a:pt x="0" y="13570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572" r="-112175" b="-1572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r="0" b="-351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4174148">
            <a:off x="-1016439" y="7327751"/>
            <a:ext cx="3424109" cy="2801544"/>
          </a:xfrm>
          <a:custGeom>
            <a:avLst/>
            <a:gdLst/>
            <a:ahLst/>
            <a:cxnLst/>
            <a:rect r="r" b="b" t="t" l="l"/>
            <a:pathLst>
              <a:path h="2801544" w="3424109">
                <a:moveTo>
                  <a:pt x="3424109" y="0"/>
                </a:moveTo>
                <a:lnTo>
                  <a:pt x="0" y="0"/>
                </a:lnTo>
                <a:lnTo>
                  <a:pt x="0" y="2801543"/>
                </a:lnTo>
                <a:lnTo>
                  <a:pt x="3424109" y="2801543"/>
                </a:lnTo>
                <a:lnTo>
                  <a:pt x="342410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65799" y="8302504"/>
            <a:ext cx="12878442" cy="3608394"/>
          </a:xfrm>
          <a:custGeom>
            <a:avLst/>
            <a:gdLst/>
            <a:ahLst/>
            <a:cxnLst/>
            <a:rect r="r" b="b" t="t" l="l"/>
            <a:pathLst>
              <a:path h="3608394" w="12878442">
                <a:moveTo>
                  <a:pt x="0" y="0"/>
                </a:moveTo>
                <a:lnTo>
                  <a:pt x="12878441" y="0"/>
                </a:lnTo>
                <a:lnTo>
                  <a:pt x="12878441" y="3608394"/>
                </a:lnTo>
                <a:lnTo>
                  <a:pt x="0" y="36083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05285">
            <a:off x="16172707" y="7272"/>
            <a:ext cx="5564319" cy="4552624"/>
          </a:xfrm>
          <a:custGeom>
            <a:avLst/>
            <a:gdLst/>
            <a:ahLst/>
            <a:cxnLst/>
            <a:rect r="r" b="b" t="t" l="l"/>
            <a:pathLst>
              <a:path h="4552624" w="5564319">
                <a:moveTo>
                  <a:pt x="0" y="0"/>
                </a:moveTo>
                <a:lnTo>
                  <a:pt x="5564319" y="0"/>
                </a:lnTo>
                <a:lnTo>
                  <a:pt x="5564319" y="4552624"/>
                </a:lnTo>
                <a:lnTo>
                  <a:pt x="0" y="45526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7669717" y="-1368884"/>
            <a:ext cx="11317876" cy="3171141"/>
          </a:xfrm>
          <a:custGeom>
            <a:avLst/>
            <a:gdLst/>
            <a:ahLst/>
            <a:cxnLst/>
            <a:rect r="r" b="b" t="t" l="l"/>
            <a:pathLst>
              <a:path h="3171141" w="11317876">
                <a:moveTo>
                  <a:pt x="11317876" y="3171140"/>
                </a:moveTo>
                <a:lnTo>
                  <a:pt x="0" y="3171140"/>
                </a:lnTo>
                <a:lnTo>
                  <a:pt x="0" y="0"/>
                </a:lnTo>
                <a:lnTo>
                  <a:pt x="11317876" y="0"/>
                </a:lnTo>
                <a:lnTo>
                  <a:pt x="11317876" y="317114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64761" y="3252559"/>
            <a:ext cx="14828448" cy="627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1. Improve Inter-Club Coordination –</a:t>
            </a:r>
            <a:r>
              <a:rPr lang="en-US" sz="35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To facilitate seamless communication and collaboration among different college clubs.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2. Avoid Event Clashes –</a:t>
            </a:r>
            <a:r>
              <a:rPr lang="en-US" sz="35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To prevent scheduling conflicts by maintaining a centralized event calendar.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3. Optimize Resource Sharing –</a:t>
            </a:r>
            <a:r>
              <a:rPr lang="en-US" sz="35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To efficiently allocate venues, equipment, and budgets across multiple clubs.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4. Standardize Event Planning –</a:t>
            </a:r>
            <a:r>
              <a:rPr lang="en-US" sz="35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To implement a structured system for event approvals, planning, and execution across clubs.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5. Improve Documentation &amp; Feedback – </a:t>
            </a:r>
            <a:r>
              <a:rPr lang="en-US" sz="35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To maintain records of events, feedback, and best practices for continuous improvement.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000467" y="1435451"/>
            <a:ext cx="11619426" cy="1696267"/>
          </a:xfrm>
          <a:custGeom>
            <a:avLst/>
            <a:gdLst/>
            <a:ahLst/>
            <a:cxnLst/>
            <a:rect r="r" b="b" t="t" l="l"/>
            <a:pathLst>
              <a:path h="1696267" w="11619426">
                <a:moveTo>
                  <a:pt x="0" y="0"/>
                </a:moveTo>
                <a:lnTo>
                  <a:pt x="11619425" y="0"/>
                </a:lnTo>
                <a:lnTo>
                  <a:pt x="11619425" y="1696266"/>
                </a:lnTo>
                <a:lnTo>
                  <a:pt x="0" y="16962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09628" y="1503169"/>
            <a:ext cx="8719027" cy="129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Obejective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7669717" y="-1368884"/>
            <a:ext cx="11317876" cy="3171141"/>
          </a:xfrm>
          <a:custGeom>
            <a:avLst/>
            <a:gdLst/>
            <a:ahLst/>
            <a:cxnLst/>
            <a:rect r="r" b="b" t="t" l="l"/>
            <a:pathLst>
              <a:path h="3171141" w="11317876">
                <a:moveTo>
                  <a:pt x="11317876" y="3171140"/>
                </a:moveTo>
                <a:lnTo>
                  <a:pt x="0" y="3171140"/>
                </a:lnTo>
                <a:lnTo>
                  <a:pt x="0" y="0"/>
                </a:lnTo>
                <a:lnTo>
                  <a:pt x="11317876" y="0"/>
                </a:lnTo>
                <a:lnTo>
                  <a:pt x="11317876" y="317114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05285">
            <a:off x="16172707" y="7272"/>
            <a:ext cx="5564319" cy="4552624"/>
          </a:xfrm>
          <a:custGeom>
            <a:avLst/>
            <a:gdLst/>
            <a:ahLst/>
            <a:cxnLst/>
            <a:rect r="r" b="b" t="t" l="l"/>
            <a:pathLst>
              <a:path h="4552624" w="5564319">
                <a:moveTo>
                  <a:pt x="0" y="0"/>
                </a:moveTo>
                <a:lnTo>
                  <a:pt x="5564319" y="0"/>
                </a:lnTo>
                <a:lnTo>
                  <a:pt x="5564319" y="4552624"/>
                </a:lnTo>
                <a:lnTo>
                  <a:pt x="0" y="4552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65799" y="8302504"/>
            <a:ext cx="12878442" cy="3608394"/>
          </a:xfrm>
          <a:custGeom>
            <a:avLst/>
            <a:gdLst/>
            <a:ahLst/>
            <a:cxnLst/>
            <a:rect r="r" b="b" t="t" l="l"/>
            <a:pathLst>
              <a:path h="3608394" w="12878442">
                <a:moveTo>
                  <a:pt x="0" y="0"/>
                </a:moveTo>
                <a:lnTo>
                  <a:pt x="12878441" y="0"/>
                </a:lnTo>
                <a:lnTo>
                  <a:pt x="12878441" y="3608394"/>
                </a:lnTo>
                <a:lnTo>
                  <a:pt x="0" y="3608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4174148">
            <a:off x="-1016439" y="7327751"/>
            <a:ext cx="3424109" cy="2801544"/>
          </a:xfrm>
          <a:custGeom>
            <a:avLst/>
            <a:gdLst/>
            <a:ahLst/>
            <a:cxnLst/>
            <a:rect r="r" b="b" t="t" l="l"/>
            <a:pathLst>
              <a:path h="2801544" w="3424109">
                <a:moveTo>
                  <a:pt x="3424109" y="0"/>
                </a:moveTo>
                <a:lnTo>
                  <a:pt x="0" y="0"/>
                </a:lnTo>
                <a:lnTo>
                  <a:pt x="0" y="2801543"/>
                </a:lnTo>
                <a:lnTo>
                  <a:pt x="3424109" y="2801543"/>
                </a:lnTo>
                <a:lnTo>
                  <a:pt x="342410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895" t="-29019" r="0" b="-351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13399" y="8454904"/>
            <a:ext cx="12878442" cy="3608394"/>
          </a:xfrm>
          <a:custGeom>
            <a:avLst/>
            <a:gdLst/>
            <a:ahLst/>
            <a:cxnLst/>
            <a:rect r="r" b="b" t="t" l="l"/>
            <a:pathLst>
              <a:path h="3608394" w="12878442">
                <a:moveTo>
                  <a:pt x="0" y="0"/>
                </a:moveTo>
                <a:lnTo>
                  <a:pt x="12878441" y="0"/>
                </a:lnTo>
                <a:lnTo>
                  <a:pt x="12878441" y="3608394"/>
                </a:lnTo>
                <a:lnTo>
                  <a:pt x="0" y="3608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4174148">
            <a:off x="-864039" y="7480151"/>
            <a:ext cx="3424109" cy="2801544"/>
          </a:xfrm>
          <a:custGeom>
            <a:avLst/>
            <a:gdLst/>
            <a:ahLst/>
            <a:cxnLst/>
            <a:rect r="r" b="b" t="t" l="l"/>
            <a:pathLst>
              <a:path h="2801544" w="3424109">
                <a:moveTo>
                  <a:pt x="3424109" y="0"/>
                </a:moveTo>
                <a:lnTo>
                  <a:pt x="0" y="0"/>
                </a:lnTo>
                <a:lnTo>
                  <a:pt x="0" y="2801543"/>
                </a:lnTo>
                <a:lnTo>
                  <a:pt x="3424109" y="2801543"/>
                </a:lnTo>
                <a:lnTo>
                  <a:pt x="342410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7822117" y="-1216484"/>
            <a:ext cx="11317876" cy="3171141"/>
          </a:xfrm>
          <a:custGeom>
            <a:avLst/>
            <a:gdLst/>
            <a:ahLst/>
            <a:cxnLst/>
            <a:rect r="r" b="b" t="t" l="l"/>
            <a:pathLst>
              <a:path h="3171141" w="11317876">
                <a:moveTo>
                  <a:pt x="11317876" y="3171140"/>
                </a:moveTo>
                <a:lnTo>
                  <a:pt x="0" y="3171140"/>
                </a:lnTo>
                <a:lnTo>
                  <a:pt x="0" y="0"/>
                </a:lnTo>
                <a:lnTo>
                  <a:pt x="11317876" y="0"/>
                </a:lnTo>
                <a:lnTo>
                  <a:pt x="11317876" y="317114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805285">
            <a:off x="16325107" y="159672"/>
            <a:ext cx="5564319" cy="4552624"/>
          </a:xfrm>
          <a:custGeom>
            <a:avLst/>
            <a:gdLst/>
            <a:ahLst/>
            <a:cxnLst/>
            <a:rect r="r" b="b" t="t" l="l"/>
            <a:pathLst>
              <a:path h="4552624" w="5564319">
                <a:moveTo>
                  <a:pt x="0" y="0"/>
                </a:moveTo>
                <a:lnTo>
                  <a:pt x="5564319" y="0"/>
                </a:lnTo>
                <a:lnTo>
                  <a:pt x="5564319" y="4552624"/>
                </a:lnTo>
                <a:lnTo>
                  <a:pt x="0" y="4552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605910" y="-241914"/>
            <a:ext cx="11619426" cy="1696267"/>
          </a:xfrm>
          <a:custGeom>
            <a:avLst/>
            <a:gdLst/>
            <a:ahLst/>
            <a:cxnLst/>
            <a:rect r="r" b="b" t="t" l="l"/>
            <a:pathLst>
              <a:path h="1696267" w="11619426">
                <a:moveTo>
                  <a:pt x="0" y="0"/>
                </a:moveTo>
                <a:lnTo>
                  <a:pt x="11619425" y="0"/>
                </a:lnTo>
                <a:lnTo>
                  <a:pt x="11619425" y="1696267"/>
                </a:lnTo>
                <a:lnTo>
                  <a:pt x="0" y="16962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479633" y="1295708"/>
            <a:ext cx="6985409" cy="8963394"/>
          </a:xfrm>
          <a:custGeom>
            <a:avLst/>
            <a:gdLst/>
            <a:ahLst/>
            <a:cxnLst/>
            <a:rect r="r" b="b" t="t" l="l"/>
            <a:pathLst>
              <a:path h="8963394" w="6985409">
                <a:moveTo>
                  <a:pt x="0" y="0"/>
                </a:moveTo>
                <a:lnTo>
                  <a:pt x="6985409" y="0"/>
                </a:lnTo>
                <a:lnTo>
                  <a:pt x="6985409" y="8963393"/>
                </a:lnTo>
                <a:lnTo>
                  <a:pt x="0" y="89633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1886" t="0" r="-6623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612824" y="-50014"/>
            <a:ext cx="8719027" cy="129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Methodology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7669717" y="-1368884"/>
            <a:ext cx="11317876" cy="3171141"/>
          </a:xfrm>
          <a:custGeom>
            <a:avLst/>
            <a:gdLst/>
            <a:ahLst/>
            <a:cxnLst/>
            <a:rect r="r" b="b" t="t" l="l"/>
            <a:pathLst>
              <a:path h="3171141" w="11317876">
                <a:moveTo>
                  <a:pt x="11317876" y="3171140"/>
                </a:moveTo>
                <a:lnTo>
                  <a:pt x="0" y="3171140"/>
                </a:lnTo>
                <a:lnTo>
                  <a:pt x="0" y="0"/>
                </a:lnTo>
                <a:lnTo>
                  <a:pt x="11317876" y="0"/>
                </a:lnTo>
                <a:lnTo>
                  <a:pt x="11317876" y="317114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05285">
            <a:off x="16172707" y="7272"/>
            <a:ext cx="5564319" cy="4552624"/>
          </a:xfrm>
          <a:custGeom>
            <a:avLst/>
            <a:gdLst/>
            <a:ahLst/>
            <a:cxnLst/>
            <a:rect r="r" b="b" t="t" l="l"/>
            <a:pathLst>
              <a:path h="4552624" w="5564319">
                <a:moveTo>
                  <a:pt x="0" y="0"/>
                </a:moveTo>
                <a:lnTo>
                  <a:pt x="5564319" y="0"/>
                </a:lnTo>
                <a:lnTo>
                  <a:pt x="5564319" y="4552624"/>
                </a:lnTo>
                <a:lnTo>
                  <a:pt x="0" y="4552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65799" y="8302504"/>
            <a:ext cx="12878442" cy="3608394"/>
          </a:xfrm>
          <a:custGeom>
            <a:avLst/>
            <a:gdLst/>
            <a:ahLst/>
            <a:cxnLst/>
            <a:rect r="r" b="b" t="t" l="l"/>
            <a:pathLst>
              <a:path h="3608394" w="12878442">
                <a:moveTo>
                  <a:pt x="0" y="0"/>
                </a:moveTo>
                <a:lnTo>
                  <a:pt x="12878441" y="0"/>
                </a:lnTo>
                <a:lnTo>
                  <a:pt x="12878441" y="3608394"/>
                </a:lnTo>
                <a:lnTo>
                  <a:pt x="0" y="3608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4174148">
            <a:off x="-1016439" y="7327751"/>
            <a:ext cx="3424109" cy="2801544"/>
          </a:xfrm>
          <a:custGeom>
            <a:avLst/>
            <a:gdLst/>
            <a:ahLst/>
            <a:cxnLst/>
            <a:rect r="r" b="b" t="t" l="l"/>
            <a:pathLst>
              <a:path h="2801544" w="3424109">
                <a:moveTo>
                  <a:pt x="3424109" y="0"/>
                </a:moveTo>
                <a:lnTo>
                  <a:pt x="0" y="0"/>
                </a:lnTo>
                <a:lnTo>
                  <a:pt x="0" y="2801543"/>
                </a:lnTo>
                <a:lnTo>
                  <a:pt x="3424109" y="2801543"/>
                </a:lnTo>
                <a:lnTo>
                  <a:pt x="342410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810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895" t="-29019" r="0" b="-351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13399" y="8454904"/>
            <a:ext cx="12878442" cy="3608394"/>
          </a:xfrm>
          <a:custGeom>
            <a:avLst/>
            <a:gdLst/>
            <a:ahLst/>
            <a:cxnLst/>
            <a:rect r="r" b="b" t="t" l="l"/>
            <a:pathLst>
              <a:path h="3608394" w="12878442">
                <a:moveTo>
                  <a:pt x="0" y="0"/>
                </a:moveTo>
                <a:lnTo>
                  <a:pt x="12878441" y="0"/>
                </a:lnTo>
                <a:lnTo>
                  <a:pt x="12878441" y="3608394"/>
                </a:lnTo>
                <a:lnTo>
                  <a:pt x="0" y="3608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4174148">
            <a:off x="-864039" y="7480151"/>
            <a:ext cx="3424109" cy="2801544"/>
          </a:xfrm>
          <a:custGeom>
            <a:avLst/>
            <a:gdLst/>
            <a:ahLst/>
            <a:cxnLst/>
            <a:rect r="r" b="b" t="t" l="l"/>
            <a:pathLst>
              <a:path h="2801544" w="3424109">
                <a:moveTo>
                  <a:pt x="3424109" y="0"/>
                </a:moveTo>
                <a:lnTo>
                  <a:pt x="0" y="0"/>
                </a:lnTo>
                <a:lnTo>
                  <a:pt x="0" y="2801543"/>
                </a:lnTo>
                <a:lnTo>
                  <a:pt x="3424109" y="2801543"/>
                </a:lnTo>
                <a:lnTo>
                  <a:pt x="342410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7822117" y="-1216484"/>
            <a:ext cx="11317876" cy="3171141"/>
          </a:xfrm>
          <a:custGeom>
            <a:avLst/>
            <a:gdLst/>
            <a:ahLst/>
            <a:cxnLst/>
            <a:rect r="r" b="b" t="t" l="l"/>
            <a:pathLst>
              <a:path h="3171141" w="11317876">
                <a:moveTo>
                  <a:pt x="11317876" y="3171140"/>
                </a:moveTo>
                <a:lnTo>
                  <a:pt x="0" y="3171140"/>
                </a:lnTo>
                <a:lnTo>
                  <a:pt x="0" y="0"/>
                </a:lnTo>
                <a:lnTo>
                  <a:pt x="11317876" y="0"/>
                </a:lnTo>
                <a:lnTo>
                  <a:pt x="11317876" y="317114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805285">
            <a:off x="16325107" y="159672"/>
            <a:ext cx="5564319" cy="4552624"/>
          </a:xfrm>
          <a:custGeom>
            <a:avLst/>
            <a:gdLst/>
            <a:ahLst/>
            <a:cxnLst/>
            <a:rect r="r" b="b" t="t" l="l"/>
            <a:pathLst>
              <a:path h="4552624" w="5564319">
                <a:moveTo>
                  <a:pt x="0" y="0"/>
                </a:moveTo>
                <a:lnTo>
                  <a:pt x="5564319" y="0"/>
                </a:lnTo>
                <a:lnTo>
                  <a:pt x="5564319" y="4552624"/>
                </a:lnTo>
                <a:lnTo>
                  <a:pt x="0" y="4552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073828" y="1106523"/>
            <a:ext cx="11619426" cy="1696267"/>
          </a:xfrm>
          <a:custGeom>
            <a:avLst/>
            <a:gdLst/>
            <a:ahLst/>
            <a:cxnLst/>
            <a:rect r="r" b="b" t="t" l="l"/>
            <a:pathLst>
              <a:path h="1696267" w="11619426">
                <a:moveTo>
                  <a:pt x="0" y="0"/>
                </a:moveTo>
                <a:lnTo>
                  <a:pt x="11619425" y="0"/>
                </a:lnTo>
                <a:lnTo>
                  <a:pt x="11619425" y="1696267"/>
                </a:lnTo>
                <a:lnTo>
                  <a:pt x="0" y="16962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62028" y="1174241"/>
            <a:ext cx="8719027" cy="129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Techniques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073828" y="3490937"/>
            <a:ext cx="12646504" cy="5389986"/>
          </a:xfrm>
          <a:custGeom>
            <a:avLst/>
            <a:gdLst/>
            <a:ahLst/>
            <a:cxnLst/>
            <a:rect r="r" b="b" t="t" l="l"/>
            <a:pathLst>
              <a:path h="5389986" w="12646504">
                <a:moveTo>
                  <a:pt x="0" y="0"/>
                </a:moveTo>
                <a:lnTo>
                  <a:pt x="12646504" y="0"/>
                </a:lnTo>
                <a:lnTo>
                  <a:pt x="12646504" y="5389986"/>
                </a:lnTo>
                <a:lnTo>
                  <a:pt x="0" y="53899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41364" y="3423421"/>
            <a:ext cx="3589875" cy="4948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3"/>
              </a:lnSpc>
            </a:pPr>
            <a:r>
              <a:rPr lang="en-US" sz="3916" b="true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Frontend:</a:t>
            </a:r>
          </a:p>
          <a:p>
            <a:pPr algn="ctr">
              <a:lnSpc>
                <a:spcPts val="5483"/>
              </a:lnSpc>
            </a:pPr>
            <a:r>
              <a:rPr lang="en-US" sz="3916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HTML,</a:t>
            </a:r>
          </a:p>
          <a:p>
            <a:pPr algn="ctr">
              <a:lnSpc>
                <a:spcPts val="5483"/>
              </a:lnSpc>
            </a:pPr>
            <a:r>
              <a:rPr lang="en-US" sz="3916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CSS, </a:t>
            </a:r>
          </a:p>
          <a:p>
            <a:pPr algn="ctr">
              <a:lnSpc>
                <a:spcPts val="5483"/>
              </a:lnSpc>
            </a:pPr>
            <a:r>
              <a:rPr lang="en-US" sz="3916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JavaScript, </a:t>
            </a:r>
          </a:p>
          <a:p>
            <a:pPr algn="ctr">
              <a:lnSpc>
                <a:spcPts val="5483"/>
              </a:lnSpc>
            </a:pPr>
            <a:r>
              <a:rPr lang="en-US" sz="3916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React.js </a:t>
            </a:r>
          </a:p>
          <a:p>
            <a:pPr algn="ctr">
              <a:lnSpc>
                <a:spcPts val="5483"/>
              </a:lnSpc>
            </a:pPr>
            <a:r>
              <a:rPr lang="en-US" sz="3916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or</a:t>
            </a:r>
            <a:r>
              <a:rPr lang="en-US" sz="3916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</a:t>
            </a:r>
          </a:p>
          <a:p>
            <a:pPr algn="ctr">
              <a:lnSpc>
                <a:spcPts val="5483"/>
              </a:lnSpc>
              <a:spcBef>
                <a:spcPct val="0"/>
              </a:spcBef>
            </a:pPr>
            <a:r>
              <a:rPr lang="en-US" sz="3916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Angular.js for UI.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14294" y="3385321"/>
            <a:ext cx="3659412" cy="4960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9"/>
              </a:lnSpc>
            </a:pPr>
            <a:r>
              <a:rPr lang="en-US" sz="4585" b="true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Backend:</a:t>
            </a:r>
          </a:p>
          <a:p>
            <a:pPr algn="ctr">
              <a:lnSpc>
                <a:spcPts val="6419"/>
              </a:lnSpc>
            </a:pPr>
            <a:r>
              <a:rPr lang="en-US" sz="4585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 </a:t>
            </a:r>
            <a:r>
              <a:rPr lang="en-US" sz="4585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Node.js,</a:t>
            </a:r>
          </a:p>
          <a:p>
            <a:pPr algn="ctr">
              <a:lnSpc>
                <a:spcPts val="6419"/>
              </a:lnSpc>
            </a:pPr>
            <a:r>
              <a:rPr lang="en-US" sz="4585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Django, </a:t>
            </a:r>
          </a:p>
          <a:p>
            <a:pPr algn="ctr">
              <a:lnSpc>
                <a:spcPts val="6419"/>
              </a:lnSpc>
            </a:pPr>
            <a:r>
              <a:rPr lang="en-US" sz="4585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or </a:t>
            </a:r>
          </a:p>
          <a:p>
            <a:pPr algn="ctr">
              <a:lnSpc>
                <a:spcPts val="6419"/>
              </a:lnSpc>
              <a:spcBef>
                <a:spcPct val="0"/>
              </a:spcBef>
            </a:pPr>
            <a:r>
              <a:rPr lang="en-US" sz="4585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Flask for event data handling.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02281" y="3423421"/>
            <a:ext cx="3894384" cy="5344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1"/>
              </a:lnSpc>
            </a:pPr>
            <a:r>
              <a:rPr lang="en-US" sz="3729" b="true">
                <a:solidFill>
                  <a:srgbClr val="000000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Database: </a:t>
            </a:r>
          </a:p>
          <a:p>
            <a:pPr algn="ctr">
              <a:lnSpc>
                <a:spcPts val="5221"/>
              </a:lnSpc>
            </a:pPr>
            <a:r>
              <a:rPr lang="en-US" sz="3729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MySQL, </a:t>
            </a:r>
          </a:p>
          <a:p>
            <a:pPr algn="ctr">
              <a:lnSpc>
                <a:spcPts val="5221"/>
              </a:lnSpc>
            </a:pPr>
            <a:r>
              <a:rPr lang="en-US" sz="3729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PostgreSQL, </a:t>
            </a:r>
          </a:p>
          <a:p>
            <a:pPr algn="ctr">
              <a:lnSpc>
                <a:spcPts val="5221"/>
              </a:lnSpc>
            </a:pPr>
            <a:r>
              <a:rPr lang="en-US" sz="3729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or </a:t>
            </a:r>
          </a:p>
          <a:p>
            <a:pPr algn="ctr">
              <a:lnSpc>
                <a:spcPts val="5221"/>
              </a:lnSpc>
            </a:pPr>
            <a:r>
              <a:rPr lang="en-US" sz="3729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Firebase for storing event records.</a:t>
            </a:r>
          </a:p>
          <a:p>
            <a:pPr algn="ctr">
              <a:lnSpc>
                <a:spcPts val="522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64761" y="3252559"/>
            <a:ext cx="14828448" cy="627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1. Improve Inter-Club Coordination –</a:t>
            </a:r>
            <a:r>
              <a:rPr lang="en-US" sz="35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To facilitate seamless communication and collaboration among different college clubs.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2. Avoid Event Clashes –</a:t>
            </a:r>
            <a:r>
              <a:rPr lang="en-US" sz="35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To prevent scheduling conflicts by maintaining a centralized event calendar.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3. Optimize Resource Sharing –</a:t>
            </a:r>
            <a:r>
              <a:rPr lang="en-US" sz="35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To efficiently allocate venues, equipment, and budgets across multiple clubs.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4. Standardize Event Planning –</a:t>
            </a:r>
            <a:r>
              <a:rPr lang="en-US" sz="35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To implement a structured system for event approvals, planning, and execution across clubs.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5. Improve Documentation &amp; Feedback – </a:t>
            </a:r>
            <a:r>
              <a:rPr lang="en-US" sz="35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To maintain records of events, feedback, and best practices for continuous improvement.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000467" y="1435451"/>
            <a:ext cx="11619426" cy="1696267"/>
          </a:xfrm>
          <a:custGeom>
            <a:avLst/>
            <a:gdLst/>
            <a:ahLst/>
            <a:cxnLst/>
            <a:rect r="r" b="b" t="t" l="l"/>
            <a:pathLst>
              <a:path h="1696267" w="11619426">
                <a:moveTo>
                  <a:pt x="0" y="0"/>
                </a:moveTo>
                <a:lnTo>
                  <a:pt x="11619425" y="0"/>
                </a:lnTo>
                <a:lnTo>
                  <a:pt x="11619425" y="1696266"/>
                </a:lnTo>
                <a:lnTo>
                  <a:pt x="0" y="1696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09628" y="1503169"/>
            <a:ext cx="8719027" cy="129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Obejective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895" t="-29019" r="0" b="-3514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4174148">
            <a:off x="-1016439" y="7327751"/>
            <a:ext cx="3424109" cy="2801544"/>
          </a:xfrm>
          <a:custGeom>
            <a:avLst/>
            <a:gdLst/>
            <a:ahLst/>
            <a:cxnLst/>
            <a:rect r="r" b="b" t="t" l="l"/>
            <a:pathLst>
              <a:path h="2801544" w="3424109">
                <a:moveTo>
                  <a:pt x="3424109" y="0"/>
                </a:moveTo>
                <a:lnTo>
                  <a:pt x="0" y="0"/>
                </a:lnTo>
                <a:lnTo>
                  <a:pt x="0" y="2801543"/>
                </a:lnTo>
                <a:lnTo>
                  <a:pt x="3424109" y="2801543"/>
                </a:lnTo>
                <a:lnTo>
                  <a:pt x="342410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65799" y="8302504"/>
            <a:ext cx="12878442" cy="3608394"/>
          </a:xfrm>
          <a:custGeom>
            <a:avLst/>
            <a:gdLst/>
            <a:ahLst/>
            <a:cxnLst/>
            <a:rect r="r" b="b" t="t" l="l"/>
            <a:pathLst>
              <a:path h="3608394" w="12878442">
                <a:moveTo>
                  <a:pt x="0" y="0"/>
                </a:moveTo>
                <a:lnTo>
                  <a:pt x="12878441" y="0"/>
                </a:lnTo>
                <a:lnTo>
                  <a:pt x="12878441" y="3608394"/>
                </a:lnTo>
                <a:lnTo>
                  <a:pt x="0" y="36083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805285">
            <a:off x="16172707" y="7272"/>
            <a:ext cx="5564319" cy="4552624"/>
          </a:xfrm>
          <a:custGeom>
            <a:avLst/>
            <a:gdLst/>
            <a:ahLst/>
            <a:cxnLst/>
            <a:rect r="r" b="b" t="t" l="l"/>
            <a:pathLst>
              <a:path h="4552624" w="5564319">
                <a:moveTo>
                  <a:pt x="0" y="0"/>
                </a:moveTo>
                <a:lnTo>
                  <a:pt x="5564319" y="0"/>
                </a:lnTo>
                <a:lnTo>
                  <a:pt x="5564319" y="4552624"/>
                </a:lnTo>
                <a:lnTo>
                  <a:pt x="0" y="45526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7669717" y="-1368884"/>
            <a:ext cx="11317876" cy="3171141"/>
          </a:xfrm>
          <a:custGeom>
            <a:avLst/>
            <a:gdLst/>
            <a:ahLst/>
            <a:cxnLst/>
            <a:rect r="r" b="b" t="t" l="l"/>
            <a:pathLst>
              <a:path h="3171141" w="11317876">
                <a:moveTo>
                  <a:pt x="11317876" y="3171140"/>
                </a:moveTo>
                <a:lnTo>
                  <a:pt x="0" y="3171140"/>
                </a:lnTo>
                <a:lnTo>
                  <a:pt x="0" y="0"/>
                </a:lnTo>
                <a:lnTo>
                  <a:pt x="11317876" y="0"/>
                </a:lnTo>
                <a:lnTo>
                  <a:pt x="11317876" y="317114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41505" y="587317"/>
            <a:ext cx="11619426" cy="1696267"/>
          </a:xfrm>
          <a:custGeom>
            <a:avLst/>
            <a:gdLst/>
            <a:ahLst/>
            <a:cxnLst/>
            <a:rect r="r" b="b" t="t" l="l"/>
            <a:pathLst>
              <a:path h="1696267" w="11619426">
                <a:moveTo>
                  <a:pt x="0" y="0"/>
                </a:moveTo>
                <a:lnTo>
                  <a:pt x="11619426" y="0"/>
                </a:lnTo>
                <a:lnTo>
                  <a:pt x="11619426" y="1696267"/>
                </a:lnTo>
                <a:lnTo>
                  <a:pt x="0" y="1696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3811279" y="2019976"/>
          <a:ext cx="10703683" cy="8086725"/>
        </p:xfrm>
        <a:graphic>
          <a:graphicData uri="http://schemas.openxmlformats.org/drawingml/2006/table">
            <a:tbl>
              <a:tblPr/>
              <a:tblGrid>
                <a:gridCol w="4725317"/>
                <a:gridCol w="5978366"/>
              </a:tblGrid>
              <a:tr h="898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Technology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8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HTML, CSS, JavaScript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Designing the user interface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8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React.js / Vue.js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Creating a dynamic frontend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8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Node.js + Express.js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Handling backend operations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8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MySQL / MongoDB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Storing event &amp; user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8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Firebase / WebSockets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Real-time notifications &amp; updates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8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Google Calendar 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Event scheduling integration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8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Firebase Cloud Messaging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Sending event alerts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8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Agrandir Narrow Bold"/>
                          <a:ea typeface="Agrandir Narrow Bold"/>
                          <a:cs typeface="Agrandir Narrow Bold"/>
                          <a:sym typeface="Agrandir Narrow Bold"/>
                        </a:rPr>
                        <a:t>AWS / Heroku / Vercel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grandir Narrow"/>
                          <a:ea typeface="Agrandir Narrow"/>
                          <a:cs typeface="Agrandir Narrow"/>
                          <a:sym typeface="Agrandir Narrow"/>
                        </a:rPr>
                        <a:t>Hosting &amp; deployment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4919472" y="655036"/>
            <a:ext cx="8719027" cy="129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Technologies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00467" y="1435451"/>
            <a:ext cx="11619426" cy="1696267"/>
          </a:xfrm>
          <a:custGeom>
            <a:avLst/>
            <a:gdLst/>
            <a:ahLst/>
            <a:cxnLst/>
            <a:rect r="r" b="b" t="t" l="l"/>
            <a:pathLst>
              <a:path h="1696267" w="11619426">
                <a:moveTo>
                  <a:pt x="0" y="0"/>
                </a:moveTo>
                <a:lnTo>
                  <a:pt x="11619425" y="0"/>
                </a:lnTo>
                <a:lnTo>
                  <a:pt x="11619425" y="1696266"/>
                </a:lnTo>
                <a:lnTo>
                  <a:pt x="0" y="1696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64761" y="3252559"/>
            <a:ext cx="14828448" cy="627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1. Improve Inter-Club Coordination –</a:t>
            </a:r>
            <a:r>
              <a:rPr lang="en-US" sz="35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To facilitate seamless communication and collaboration among different college clubs.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2. Avoid Event Clashes –</a:t>
            </a:r>
            <a:r>
              <a:rPr lang="en-US" sz="35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To prevent scheduling conflicts by maintaining a centralized event calendar.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3. Optimize Resource Sharing –</a:t>
            </a:r>
            <a:r>
              <a:rPr lang="en-US" sz="35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To efficiently allocate venues, equipment, and budgets across multiple clubs.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4. Standardize Event Planning –</a:t>
            </a:r>
            <a:r>
              <a:rPr lang="en-US" sz="35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To implement a structured system for event approvals, planning, and execution across clubs.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5. Improve Documentation &amp; Feedback – </a:t>
            </a:r>
            <a:r>
              <a:rPr lang="en-US" sz="35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To maintain records of events, feedback, and best practices for continuous improvement.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09628" y="1503169"/>
            <a:ext cx="8719027" cy="129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Obejective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895" t="-29019" r="0" b="-3514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4174148">
            <a:off x="-1016439" y="7327751"/>
            <a:ext cx="3424109" cy="2801544"/>
          </a:xfrm>
          <a:custGeom>
            <a:avLst/>
            <a:gdLst/>
            <a:ahLst/>
            <a:cxnLst/>
            <a:rect r="r" b="b" t="t" l="l"/>
            <a:pathLst>
              <a:path h="2801544" w="3424109">
                <a:moveTo>
                  <a:pt x="3424109" y="0"/>
                </a:moveTo>
                <a:lnTo>
                  <a:pt x="0" y="0"/>
                </a:lnTo>
                <a:lnTo>
                  <a:pt x="0" y="2801543"/>
                </a:lnTo>
                <a:lnTo>
                  <a:pt x="3424109" y="2801543"/>
                </a:lnTo>
                <a:lnTo>
                  <a:pt x="342410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65799" y="8302504"/>
            <a:ext cx="12878442" cy="3608394"/>
          </a:xfrm>
          <a:custGeom>
            <a:avLst/>
            <a:gdLst/>
            <a:ahLst/>
            <a:cxnLst/>
            <a:rect r="r" b="b" t="t" l="l"/>
            <a:pathLst>
              <a:path h="3608394" w="12878442">
                <a:moveTo>
                  <a:pt x="0" y="0"/>
                </a:moveTo>
                <a:lnTo>
                  <a:pt x="12878441" y="0"/>
                </a:lnTo>
                <a:lnTo>
                  <a:pt x="12878441" y="3608394"/>
                </a:lnTo>
                <a:lnTo>
                  <a:pt x="0" y="36083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805285">
            <a:off x="16172707" y="7272"/>
            <a:ext cx="5564319" cy="4552624"/>
          </a:xfrm>
          <a:custGeom>
            <a:avLst/>
            <a:gdLst/>
            <a:ahLst/>
            <a:cxnLst/>
            <a:rect r="r" b="b" t="t" l="l"/>
            <a:pathLst>
              <a:path h="4552624" w="5564319">
                <a:moveTo>
                  <a:pt x="0" y="0"/>
                </a:moveTo>
                <a:lnTo>
                  <a:pt x="5564319" y="0"/>
                </a:lnTo>
                <a:lnTo>
                  <a:pt x="5564319" y="4552624"/>
                </a:lnTo>
                <a:lnTo>
                  <a:pt x="0" y="45526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7669717" y="-1368884"/>
            <a:ext cx="11317876" cy="3171141"/>
          </a:xfrm>
          <a:custGeom>
            <a:avLst/>
            <a:gdLst/>
            <a:ahLst/>
            <a:cxnLst/>
            <a:rect r="r" b="b" t="t" l="l"/>
            <a:pathLst>
              <a:path h="3171141" w="11317876">
                <a:moveTo>
                  <a:pt x="11317876" y="3171140"/>
                </a:moveTo>
                <a:lnTo>
                  <a:pt x="0" y="3171140"/>
                </a:lnTo>
                <a:lnTo>
                  <a:pt x="0" y="0"/>
                </a:lnTo>
                <a:lnTo>
                  <a:pt x="11317876" y="0"/>
                </a:lnTo>
                <a:lnTo>
                  <a:pt x="11317876" y="317114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9306" y="1974750"/>
            <a:ext cx="17002701" cy="787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1" indent="-367031" lvl="1">
              <a:lnSpc>
                <a:spcPts val="4760"/>
              </a:lnSpc>
              <a:buAutoNum type="arabicPeriod" startAt="1"/>
            </a:pPr>
            <a:r>
              <a:rPr lang="en-US" sz="34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The Event Management System ensures </a:t>
            </a:r>
            <a:r>
              <a:rPr lang="en-US" b="true" sz="3400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seamless coordination between various college clubs.</a:t>
            </a:r>
          </a:p>
          <a:p>
            <a:pPr algn="l" marL="734061" indent="-367031" lvl="1">
              <a:lnSpc>
                <a:spcPts val="4760"/>
              </a:lnSpc>
              <a:buAutoNum type="arabicPeriod" startAt="1"/>
            </a:pPr>
            <a:r>
              <a:rPr lang="en-US" sz="34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</a:t>
            </a:r>
            <a:r>
              <a:rPr lang="en-US" sz="34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It provides</a:t>
            </a:r>
            <a:r>
              <a:rPr lang="en-US" b="true" sz="3400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 real-time synchronization to avoid scheduling conflicts</a:t>
            </a:r>
            <a:r>
              <a:rPr lang="en-US" sz="34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and </a:t>
            </a:r>
            <a:r>
              <a:rPr lang="en-US" b="true" sz="3400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improve event visibility.</a:t>
            </a:r>
          </a:p>
          <a:p>
            <a:pPr algn="l" marL="734061" indent="-367031" lvl="1">
              <a:lnSpc>
                <a:spcPts val="4760"/>
              </a:lnSpc>
              <a:buAutoNum type="arabicPeriod" startAt="1"/>
            </a:pPr>
            <a:r>
              <a:rPr lang="en-US" sz="34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The system automates</a:t>
            </a:r>
            <a:r>
              <a:rPr lang="en-US" b="true" sz="3400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 notifications and reminders,</a:t>
            </a:r>
            <a:r>
              <a:rPr lang="en-US" sz="34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enhancing student engagement.</a:t>
            </a:r>
          </a:p>
          <a:p>
            <a:pPr algn="l" marL="734061" indent="-367031" lvl="1">
              <a:lnSpc>
                <a:spcPts val="4760"/>
              </a:lnSpc>
              <a:buAutoNum type="arabicPeriod" startAt="1"/>
            </a:pPr>
            <a:r>
              <a:rPr lang="en-US" sz="34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A</a:t>
            </a:r>
            <a:r>
              <a:rPr lang="en-US" b="true" sz="3400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 role-based access system</a:t>
            </a:r>
            <a:r>
              <a:rPr lang="en-US" sz="34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ensures secure and organized management of club events.</a:t>
            </a:r>
          </a:p>
          <a:p>
            <a:pPr algn="l" marL="734061" indent="-367031" lvl="1">
              <a:lnSpc>
                <a:spcPts val="4760"/>
              </a:lnSpc>
              <a:buAutoNum type="arabicPeriod" startAt="1"/>
            </a:pPr>
            <a:r>
              <a:rPr lang="en-US" sz="34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The platform </a:t>
            </a:r>
            <a:r>
              <a:rPr lang="en-US" b="true" sz="3400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reduces manual work</a:t>
            </a:r>
            <a:r>
              <a:rPr lang="en-US" sz="34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, making event planning more efficient and error-free.</a:t>
            </a:r>
          </a:p>
          <a:p>
            <a:pPr algn="l" marL="734061" indent="-367031" lvl="1">
              <a:lnSpc>
                <a:spcPts val="4760"/>
              </a:lnSpc>
              <a:buAutoNum type="arabicPeriod" startAt="1"/>
            </a:pPr>
            <a:r>
              <a:rPr lang="en-US" sz="34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Integration with </a:t>
            </a:r>
            <a:r>
              <a:rPr lang="en-US" b="true" sz="3400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Google Calendar</a:t>
            </a:r>
            <a:r>
              <a:rPr lang="en-US" sz="34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and</a:t>
            </a:r>
            <a:r>
              <a:rPr lang="en-US" b="true" sz="3400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 real-time updates</a:t>
            </a:r>
            <a:r>
              <a:rPr lang="en-US" sz="34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enhances user convenience.</a:t>
            </a:r>
          </a:p>
          <a:p>
            <a:pPr algn="l" marL="734061" indent="-367031" lvl="1">
              <a:lnSpc>
                <a:spcPts val="4760"/>
              </a:lnSpc>
              <a:buAutoNum type="arabicPeriod" startAt="1"/>
            </a:pPr>
            <a:r>
              <a:rPr lang="en-US" sz="34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</a:t>
            </a:r>
            <a:r>
              <a:rPr lang="en-US" b="true" sz="3400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Future enhancements</a:t>
            </a:r>
            <a:r>
              <a:rPr lang="en-US" sz="34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may include </a:t>
            </a:r>
            <a:r>
              <a:rPr lang="en-US" b="true" sz="3400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mobile app support </a:t>
            </a:r>
            <a:r>
              <a:rPr lang="en-US" sz="34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and </a:t>
            </a:r>
            <a:r>
              <a:rPr lang="en-US" b="true" sz="3400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AI-based event recommendations.</a:t>
            </a:r>
          </a:p>
          <a:p>
            <a:pPr algn="l" marL="734061" indent="-367031" lvl="1">
              <a:lnSpc>
                <a:spcPts val="4760"/>
              </a:lnSpc>
              <a:spcBef>
                <a:spcPct val="0"/>
              </a:spcBef>
              <a:buAutoNum type="arabicPeriod" startAt="1"/>
            </a:pPr>
            <a:r>
              <a:rPr lang="en-US" sz="34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This project serves as a </a:t>
            </a:r>
            <a:r>
              <a:rPr lang="en-US" b="true" sz="3400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scalable solution</a:t>
            </a:r>
            <a:r>
              <a:rPr lang="en-US" sz="34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that can be expanded to multiple institutions.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000467" y="440408"/>
            <a:ext cx="11619426" cy="1696267"/>
          </a:xfrm>
          <a:custGeom>
            <a:avLst/>
            <a:gdLst/>
            <a:ahLst/>
            <a:cxnLst/>
            <a:rect r="r" b="b" t="t" l="l"/>
            <a:pathLst>
              <a:path h="1696267" w="11619426">
                <a:moveTo>
                  <a:pt x="0" y="0"/>
                </a:moveTo>
                <a:lnTo>
                  <a:pt x="11619425" y="0"/>
                </a:lnTo>
                <a:lnTo>
                  <a:pt x="11619425" y="1696267"/>
                </a:lnTo>
                <a:lnTo>
                  <a:pt x="0" y="1696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09628" y="508126"/>
            <a:ext cx="8719027" cy="129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Conclusion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00467" y="1435451"/>
            <a:ext cx="11619426" cy="1696267"/>
          </a:xfrm>
          <a:custGeom>
            <a:avLst/>
            <a:gdLst/>
            <a:ahLst/>
            <a:cxnLst/>
            <a:rect r="r" b="b" t="t" l="l"/>
            <a:pathLst>
              <a:path h="1696267" w="11619426">
                <a:moveTo>
                  <a:pt x="0" y="0"/>
                </a:moveTo>
                <a:lnTo>
                  <a:pt x="11619425" y="0"/>
                </a:lnTo>
                <a:lnTo>
                  <a:pt x="11619425" y="1696266"/>
                </a:lnTo>
                <a:lnTo>
                  <a:pt x="0" y="1696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64761" y="3252559"/>
            <a:ext cx="14828448" cy="627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1. Improve Inter-Club Coordination –</a:t>
            </a:r>
            <a:r>
              <a:rPr lang="en-US" sz="35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To facilitate seamless communication and collaboration among different college clubs.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2. Avoid Event Clashes –</a:t>
            </a:r>
            <a:r>
              <a:rPr lang="en-US" sz="35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To prevent scheduling conflicts by maintaining a centralized event calendar.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3. Optimize Resource Sharing –</a:t>
            </a:r>
            <a:r>
              <a:rPr lang="en-US" sz="35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To efficiently allocate venues, equipment, and budgets across multiple clubs.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4. Standardize Event Planning –</a:t>
            </a:r>
            <a:r>
              <a:rPr lang="en-US" sz="35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 To implement a structured system for event approvals, planning, and execution across clubs.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5. Improve Documentation &amp; Feedback – </a:t>
            </a:r>
            <a:r>
              <a:rPr lang="en-US" sz="3500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</a:rPr>
              <a:t>To maintain records of events, feedback, and best practices for continuous improvement.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09628" y="1503169"/>
            <a:ext cx="8719027" cy="129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Obejective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895" t="-29019" r="0" b="-3514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4174148">
            <a:off x="-1016439" y="7327751"/>
            <a:ext cx="3424109" cy="2801544"/>
          </a:xfrm>
          <a:custGeom>
            <a:avLst/>
            <a:gdLst/>
            <a:ahLst/>
            <a:cxnLst/>
            <a:rect r="r" b="b" t="t" l="l"/>
            <a:pathLst>
              <a:path h="2801544" w="3424109">
                <a:moveTo>
                  <a:pt x="3424109" y="0"/>
                </a:moveTo>
                <a:lnTo>
                  <a:pt x="0" y="0"/>
                </a:lnTo>
                <a:lnTo>
                  <a:pt x="0" y="2801543"/>
                </a:lnTo>
                <a:lnTo>
                  <a:pt x="3424109" y="2801543"/>
                </a:lnTo>
                <a:lnTo>
                  <a:pt x="342410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65799" y="8302504"/>
            <a:ext cx="12878442" cy="3608394"/>
          </a:xfrm>
          <a:custGeom>
            <a:avLst/>
            <a:gdLst/>
            <a:ahLst/>
            <a:cxnLst/>
            <a:rect r="r" b="b" t="t" l="l"/>
            <a:pathLst>
              <a:path h="3608394" w="12878442">
                <a:moveTo>
                  <a:pt x="0" y="0"/>
                </a:moveTo>
                <a:lnTo>
                  <a:pt x="12878441" y="0"/>
                </a:lnTo>
                <a:lnTo>
                  <a:pt x="12878441" y="3608394"/>
                </a:lnTo>
                <a:lnTo>
                  <a:pt x="0" y="36083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805285">
            <a:off x="16172707" y="7272"/>
            <a:ext cx="5564319" cy="4552624"/>
          </a:xfrm>
          <a:custGeom>
            <a:avLst/>
            <a:gdLst/>
            <a:ahLst/>
            <a:cxnLst/>
            <a:rect r="r" b="b" t="t" l="l"/>
            <a:pathLst>
              <a:path h="4552624" w="5564319">
                <a:moveTo>
                  <a:pt x="0" y="0"/>
                </a:moveTo>
                <a:lnTo>
                  <a:pt x="5564319" y="0"/>
                </a:lnTo>
                <a:lnTo>
                  <a:pt x="5564319" y="4552624"/>
                </a:lnTo>
                <a:lnTo>
                  <a:pt x="0" y="45526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7669717" y="-1368884"/>
            <a:ext cx="11317876" cy="3171141"/>
          </a:xfrm>
          <a:custGeom>
            <a:avLst/>
            <a:gdLst/>
            <a:ahLst/>
            <a:cxnLst/>
            <a:rect r="r" b="b" t="t" l="l"/>
            <a:pathLst>
              <a:path h="3171141" w="11317876">
                <a:moveTo>
                  <a:pt x="11317876" y="3171140"/>
                </a:moveTo>
                <a:lnTo>
                  <a:pt x="0" y="3171140"/>
                </a:lnTo>
                <a:lnTo>
                  <a:pt x="0" y="0"/>
                </a:lnTo>
                <a:lnTo>
                  <a:pt x="11317876" y="0"/>
                </a:lnTo>
                <a:lnTo>
                  <a:pt x="11317876" y="317114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95616" y="3252559"/>
            <a:ext cx="16563684" cy="627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Reference Websites:-</a:t>
            </a:r>
          </a:p>
          <a:p>
            <a:pPr algn="ctr">
              <a:lnSpc>
                <a:spcPts val="4900"/>
              </a:lnSpc>
            </a:pPr>
            <a:r>
              <a:rPr lang="en-US" sz="3500" u="sng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  <a:hlinkClick r:id="rId9" tooltip="https://www.poddarbschool.com/club-event-calendar#Spandan%20club"/>
              </a:rPr>
              <a:t>https://www.poddarbschool.com/club-event-calendar#Spandan%20club</a:t>
            </a:r>
          </a:p>
          <a:p>
            <a:pPr algn="ctr">
              <a:lnSpc>
                <a:spcPts val="4900"/>
              </a:lnSpc>
            </a:pP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Research Paper</a:t>
            </a:r>
          </a:p>
          <a:p>
            <a:pPr algn="ctr" marL="755651" indent="-377825" lvl="1">
              <a:lnSpc>
                <a:spcPts val="4900"/>
              </a:lnSpc>
              <a:buAutoNum type="arabicPeriod" startAt="1"/>
            </a:pPr>
            <a:r>
              <a:rPr lang="en-US" b="true" sz="3500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Life skills through Event Management in Undergraduate Education:-</a:t>
            </a:r>
          </a:p>
          <a:p>
            <a:pPr algn="ctr">
              <a:lnSpc>
                <a:spcPts val="4900"/>
              </a:lnSpc>
            </a:pPr>
            <a:r>
              <a:rPr lang="en-US" sz="3500" u="sng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  <a:hlinkClick r:id="rId10" tooltip="https://www.researchgate.net/publication/357699684_Life_skills_through_Event_Management_in_Undergraduate_Education"/>
              </a:rPr>
              <a:t>https://www.researchgate.net/publication/357699684_Life_skills_through_Event_Management_in_Undergraduate_Education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383C5B"/>
                </a:solidFill>
                <a:latin typeface="Agrandir Narrow Bold"/>
                <a:ea typeface="Agrandir Narrow Bold"/>
                <a:cs typeface="Agrandir Narrow Bold"/>
                <a:sym typeface="Agrandir Narrow Bold"/>
              </a:rPr>
              <a:t>2.The Influences of Student Club Events on Students Studying in Linnala Campus:-</a:t>
            </a:r>
          </a:p>
          <a:p>
            <a:pPr algn="ctr">
              <a:lnSpc>
                <a:spcPts val="4900"/>
              </a:lnSpc>
            </a:pPr>
            <a:r>
              <a:rPr lang="en-US" sz="3500" u="sng">
                <a:solidFill>
                  <a:srgbClr val="383C5B"/>
                </a:solidFill>
                <a:latin typeface="Agrandir Narrow"/>
                <a:ea typeface="Agrandir Narrow"/>
                <a:cs typeface="Agrandir Narrow"/>
                <a:sym typeface="Agrandir Narrow"/>
                <a:hlinkClick r:id="rId11" tooltip="https://www.researchgate.net/publication/336532594_The_Influences_of_Student_Club_Events_on_Students_Studying_in_Linnala_Campus"/>
              </a:rPr>
              <a:t>https://www.researchgate.net/publication/336532594_The_Influences_of_Student_Club_Events_on_Students_Studying_in_Linnala_Campus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000467" y="1435451"/>
            <a:ext cx="11619426" cy="1696267"/>
          </a:xfrm>
          <a:custGeom>
            <a:avLst/>
            <a:gdLst/>
            <a:ahLst/>
            <a:cxnLst/>
            <a:rect r="r" b="b" t="t" l="l"/>
            <a:pathLst>
              <a:path h="1696267" w="11619426">
                <a:moveTo>
                  <a:pt x="0" y="0"/>
                </a:moveTo>
                <a:lnTo>
                  <a:pt x="11619425" y="0"/>
                </a:lnTo>
                <a:lnTo>
                  <a:pt x="11619425" y="1696266"/>
                </a:lnTo>
                <a:lnTo>
                  <a:pt x="0" y="1696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09628" y="1503169"/>
            <a:ext cx="8719027" cy="129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References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r="0" b="-351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6080666" y="-1286086"/>
            <a:ext cx="14678635" cy="4112787"/>
          </a:xfrm>
          <a:custGeom>
            <a:avLst/>
            <a:gdLst/>
            <a:ahLst/>
            <a:cxnLst/>
            <a:rect r="r" b="b" t="t" l="l"/>
            <a:pathLst>
              <a:path h="4112787" w="14678635">
                <a:moveTo>
                  <a:pt x="14678636" y="4112787"/>
                </a:moveTo>
                <a:lnTo>
                  <a:pt x="0" y="4112787"/>
                </a:lnTo>
                <a:lnTo>
                  <a:pt x="0" y="0"/>
                </a:lnTo>
                <a:lnTo>
                  <a:pt x="14678636" y="0"/>
                </a:lnTo>
                <a:lnTo>
                  <a:pt x="14678636" y="411278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4174148">
            <a:off x="-1273162" y="6074651"/>
            <a:ext cx="4603724" cy="3766684"/>
          </a:xfrm>
          <a:custGeom>
            <a:avLst/>
            <a:gdLst/>
            <a:ahLst/>
            <a:cxnLst/>
            <a:rect r="r" b="b" t="t" l="l"/>
            <a:pathLst>
              <a:path h="3766684" w="4603724">
                <a:moveTo>
                  <a:pt x="4603724" y="0"/>
                </a:moveTo>
                <a:lnTo>
                  <a:pt x="0" y="0"/>
                </a:lnTo>
                <a:lnTo>
                  <a:pt x="0" y="3766683"/>
                </a:lnTo>
                <a:lnTo>
                  <a:pt x="4603724" y="3766683"/>
                </a:lnTo>
                <a:lnTo>
                  <a:pt x="460372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56902" y="7518902"/>
            <a:ext cx="15675137" cy="4391996"/>
          </a:xfrm>
          <a:custGeom>
            <a:avLst/>
            <a:gdLst/>
            <a:ahLst/>
            <a:cxnLst/>
            <a:rect r="r" b="b" t="t" l="l"/>
            <a:pathLst>
              <a:path h="4391996" w="15675137">
                <a:moveTo>
                  <a:pt x="0" y="0"/>
                </a:moveTo>
                <a:lnTo>
                  <a:pt x="15675137" y="0"/>
                </a:lnTo>
                <a:lnTo>
                  <a:pt x="15675137" y="4391996"/>
                </a:lnTo>
                <a:lnTo>
                  <a:pt x="0" y="43919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05285">
            <a:off x="15231190" y="706482"/>
            <a:ext cx="6621020" cy="5417199"/>
          </a:xfrm>
          <a:custGeom>
            <a:avLst/>
            <a:gdLst/>
            <a:ahLst/>
            <a:cxnLst/>
            <a:rect r="r" b="b" t="t" l="l"/>
            <a:pathLst>
              <a:path h="5417199" w="6621020">
                <a:moveTo>
                  <a:pt x="0" y="0"/>
                </a:moveTo>
                <a:lnTo>
                  <a:pt x="6621021" y="0"/>
                </a:lnTo>
                <a:lnTo>
                  <a:pt x="6621021" y="5417199"/>
                </a:lnTo>
                <a:lnTo>
                  <a:pt x="0" y="54171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82801" y="4150622"/>
            <a:ext cx="11922398" cy="19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48"/>
              </a:lnSpc>
            </a:pPr>
            <a:r>
              <a:rPr lang="en-US" sz="12820" b="true">
                <a:solidFill>
                  <a:srgbClr val="383C5B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DAGe5vZZ1pc</dc:identifier>
  <dcterms:modified xsi:type="dcterms:W3CDTF">2011-08-01T06:04:30Z</dcterms:modified>
  <cp:revision>1</cp:revision>
  <dc:title>Obejective</dc:title>
</cp:coreProperties>
</file>